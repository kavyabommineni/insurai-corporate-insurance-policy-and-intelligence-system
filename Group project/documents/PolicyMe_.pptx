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319B6F-F812-4EB8-A7D2-221F98D57D74}" v="7" dt="2026-02-16T17:42:41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349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447F6-7884-B747-75E3-781F0A80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52CD7-D0D3-D7F7-6F84-D11FD6E7E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660F9-B8D4-5F58-F2AA-6CB8F6FCA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088E6-8D6E-6D9A-9C5A-B4B68E1AF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22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sv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965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PolicyMe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9604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Graph-Based Corporate Policy Automation &amp; Intelligence System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0701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Ashwak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2083" y="854750"/>
            <a:ext cx="5259943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Compliance Crisis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2083" y="1556504"/>
            <a:ext cx="6523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Four staggering facts about manual policy management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192083" y="2240994"/>
            <a:ext cx="3754279" cy="665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60%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809065" y="3141345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Management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192083" y="3563898"/>
            <a:ext cx="3754279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Companies still rely on spreadsheets for policy compliance tracking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170319" y="2240994"/>
            <a:ext cx="3754398" cy="665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44%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10733127" y="3141345"/>
            <a:ext cx="262878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Assessment Struggles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170319" y="3563898"/>
            <a:ext cx="3754398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face challenges with policy assessments and control testing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192083" y="4632127"/>
            <a:ext cx="3754279" cy="665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$4.85M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6809065" y="5532477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Breach Cost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192083" y="5955030"/>
            <a:ext cx="3754279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financial impact of a data breach in 2025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0170319" y="4632127"/>
            <a:ext cx="3754398" cy="665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5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10787420" y="5532477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Hallucinations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170319" y="5955030"/>
            <a:ext cx="3754398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Misinterpreted policies causing wrongful claim denials and costly errors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192083" y="7070288"/>
            <a:ext cx="773263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Industry compliance reports 2025-2026</a:t>
            </a:r>
            <a:endParaRPr lang="en-US" sz="15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431FF04-26DB-C138-50EF-547D7BB72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6608" y="7526298"/>
            <a:ext cx="1733792" cy="665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9600"/>
            <a:ext cx="76882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Current AI Solutions Fail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9104"/>
            <a:ext cx="93593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Three critical failure modes that prevent reliable automated compliance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053597"/>
            <a:ext cx="4196358" cy="2665886"/>
          </a:xfrm>
          <a:prstGeom prst="roundRect">
            <a:avLst>
              <a:gd name="adj" fmla="val 4046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3310" y="3053597"/>
            <a:ext cx="93643" cy="2665886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41287" y="417389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 Hallucination Crisis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142524" y="3872270"/>
            <a:ext cx="35903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53596"/>
            <a:ext cx="4196358" cy="2665887"/>
          </a:xfrm>
          <a:prstGeom prst="roundRect">
            <a:avLst>
              <a:gd name="adj" fmla="val 4046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86482" y="3053596"/>
            <a:ext cx="89237" cy="2665887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0053" y="41625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2. Reactive Approach</a:t>
            </a:r>
            <a:endParaRPr lang="en-US" sz="2650" dirty="0"/>
          </a:p>
        </p:txBody>
      </p:sp>
      <p:sp>
        <p:nvSpPr>
          <p:cNvPr id="12" name="Shape 10"/>
          <p:cNvSpPr/>
          <p:nvPr/>
        </p:nvSpPr>
        <p:spPr>
          <a:xfrm>
            <a:off x="9640133" y="3053596"/>
            <a:ext cx="4196358" cy="2665887"/>
          </a:xfrm>
          <a:prstGeom prst="roundRect">
            <a:avLst>
              <a:gd name="adj" fmla="val 4046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609652" y="3053596"/>
            <a:ext cx="152401" cy="2665887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988868" y="4162535"/>
            <a:ext cx="346900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 Black Box Decisions</a:t>
            </a:r>
            <a:endParaRPr lang="en-US" sz="26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42B099-3035-89A4-0B19-85FD8F698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0976" y="7743757"/>
            <a:ext cx="203942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28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925" y="3419118"/>
            <a:ext cx="5538787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Solution: PolicyMe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35925" y="4153972"/>
            <a:ext cx="431399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Graph-Based Intelligence System</a:t>
            </a:r>
            <a:endParaRPr lang="en-US" sz="2050" dirty="0"/>
          </a:p>
        </p:txBody>
      </p:sp>
      <p:sp>
        <p:nvSpPr>
          <p:cNvPr id="5" name="Shape 2"/>
          <p:cNvSpPr/>
          <p:nvPr/>
        </p:nvSpPr>
        <p:spPr>
          <a:xfrm>
            <a:off x="735925" y="4774883"/>
            <a:ext cx="4256246" cy="2664023"/>
          </a:xfrm>
          <a:prstGeom prst="roundRect">
            <a:avLst>
              <a:gd name="adj" fmla="val 1184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46190" y="4985147"/>
            <a:ext cx="630793" cy="630793"/>
          </a:xfrm>
          <a:prstGeom prst="roundRect">
            <a:avLst>
              <a:gd name="adj" fmla="val 14494590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664" y="5158621"/>
            <a:ext cx="283845" cy="2838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6190" y="5810845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GraphRAG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946190" y="6256377"/>
            <a:ext cx="3835718" cy="97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Zero-hallucination policy interpretation using knowledge graphs instead of keyword matching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5187077" y="4774883"/>
            <a:ext cx="4256246" cy="2664023"/>
          </a:xfrm>
          <a:prstGeom prst="roundRect">
            <a:avLst>
              <a:gd name="adj" fmla="val 1184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397341" y="4985147"/>
            <a:ext cx="630793" cy="630793"/>
          </a:xfrm>
          <a:prstGeom prst="roundRect">
            <a:avLst>
              <a:gd name="adj" fmla="val 14494590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0815" y="5158621"/>
            <a:ext cx="283845" cy="2838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7341" y="5810845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Active Monitoring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5397341" y="6256377"/>
            <a:ext cx="3835718" cy="64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system prevents violations before claims are filed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9638228" y="4774883"/>
            <a:ext cx="4256246" cy="2664023"/>
          </a:xfrm>
          <a:prstGeom prst="roundRect">
            <a:avLst>
              <a:gd name="adj" fmla="val 1184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9848493" y="4985147"/>
            <a:ext cx="630793" cy="630793"/>
          </a:xfrm>
          <a:prstGeom prst="roundRect">
            <a:avLst>
              <a:gd name="adj" fmla="val 14494590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21967" y="5158621"/>
            <a:ext cx="283845" cy="28384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48493" y="5810845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Explainable AI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9848493" y="6256377"/>
            <a:ext cx="3835718" cy="97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traceable decision paths showing exactly why each coverage decision was made</a:t>
            </a:r>
            <a:endParaRPr lang="en-US" sz="16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8F3395-3EF0-60F9-AAF0-268A03BBE9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6608" y="7731956"/>
            <a:ext cx="1733792" cy="4858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7393C1-8118-289B-4BB8-E25DA0BFC5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0343" y="744471"/>
            <a:ext cx="1095947" cy="358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8348"/>
            <a:ext cx="82285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PolicyMe vs Standard Solutions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30755"/>
            <a:ext cx="13042821" cy="4227195"/>
          </a:xfrm>
          <a:prstGeom prst="roundRect">
            <a:avLst>
              <a:gd name="adj" fmla="val 69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1410" y="223837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343" y="238208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38208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Solutions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99997" y="238208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PolicyMe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88869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28343" y="303240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Structure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03240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text storage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99997" y="303240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 knowledge graph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53901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28343" y="368272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Method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368272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API wrapper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99997" y="368272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GraphRAG pipeline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18933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28343" y="433304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433304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Reactive dashboards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99997" y="433304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monitoring agents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83965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28343" y="498336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4983361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box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499997" y="4983361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decision traces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48997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28343" y="563368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940379" y="5633680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Prone to hallucinations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499997" y="5633680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Zero-hallucination logic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940379" y="6284000"/>
            <a:ext cx="409836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9499997" y="6284000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2F1E17F-036B-AFBA-F48B-F66BFC301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280" y="7743757"/>
            <a:ext cx="1895120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709" y="555427"/>
            <a:ext cx="5036701" cy="597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 Architecture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22709" y="1216819"/>
            <a:ext cx="238851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Tech Stack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09" y="1756767"/>
            <a:ext cx="3145274" cy="31452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709" y="5063014"/>
            <a:ext cx="238851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22709" y="5458063"/>
            <a:ext cx="3145274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+ React Flow for interactive graph visualization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199" y="1756767"/>
            <a:ext cx="3145393" cy="31453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69199" y="5063133"/>
            <a:ext cx="238851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069199" y="5458182"/>
            <a:ext cx="3145393" cy="844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FastAPI for AI orchestration and request handling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808" y="1756767"/>
            <a:ext cx="3145274" cy="31452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15808" y="5063014"/>
            <a:ext cx="238851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415808" y="5458063"/>
            <a:ext cx="3145274" cy="844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 Graph Database stores policy logic as connected networks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2298" y="1756767"/>
            <a:ext cx="3145393" cy="31453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62298" y="5063133"/>
            <a:ext cx="314539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0762298" y="5441275"/>
            <a:ext cx="3145393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LlamaIndex + Ollama for privacy-first local processing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22709" y="6484025"/>
            <a:ext cx="13184981" cy="1190030"/>
          </a:xfrm>
          <a:prstGeom prst="roundRect">
            <a:avLst>
              <a:gd name="adj" fmla="val 2409"/>
            </a:avLst>
          </a:prstGeom>
          <a:solidFill>
            <a:srgbClr val="4A030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686" y="6712268"/>
            <a:ext cx="298490" cy="2388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03152" y="6692741"/>
            <a:ext cx="238851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Advantage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1403152" y="7152203"/>
            <a:ext cx="1231356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 between policy clauses are preserved as graph edges, enabling mathematical proof of coverage decisions</a:t>
            </a: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753770B-CB41-E0A2-6C79-54BBC5E7AB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5668" y="7674055"/>
            <a:ext cx="1924732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F81B35C2-F222-3E75-FC60-EA2B2DB0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059" y="984315"/>
            <a:ext cx="9414419" cy="710813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6711AB0-49AC-98E2-10BC-BAE379C95D81}"/>
              </a:ext>
            </a:extLst>
          </p:cNvPr>
          <p:cNvSpPr/>
          <p:nvPr/>
        </p:nvSpPr>
        <p:spPr>
          <a:xfrm>
            <a:off x="303424" y="137147"/>
            <a:ext cx="5453294" cy="21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chemeClr val="tx2">
                    <a:lumMod val="5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Architectural Diagram</a:t>
            </a:r>
            <a:endParaRPr lang="en-US" sz="445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96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A8D11-2312-3216-D11F-F029699F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16268" cy="8229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24D17CB-9B87-CFCD-7BEA-6BB0E8FA59F2}"/>
              </a:ext>
            </a:extLst>
          </p:cNvPr>
          <p:cNvSpPr/>
          <p:nvPr/>
        </p:nvSpPr>
        <p:spPr>
          <a:xfrm>
            <a:off x="768096" y="2489235"/>
            <a:ext cx="3302824" cy="325113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FD6FD-7BE4-BF5B-602D-72E2583D7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076" y="463338"/>
            <a:ext cx="7567796" cy="730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8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 Impact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70% Faster Audits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compliance audit time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3505200"/>
            <a:ext cx="29462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Wrongful Denials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errors through zero-hallucination logic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Lower Breach Costs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violations through active monitoring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6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$12B+ Market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1546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insurance compliance sector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8A172-7965-8E65-5D76-5A921DCF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864A0C3-31EF-01F2-09E7-5D19ACC334A1}"/>
              </a:ext>
            </a:extLst>
          </p:cNvPr>
          <p:cNvSpPr/>
          <p:nvPr/>
        </p:nvSpPr>
        <p:spPr>
          <a:xfrm>
            <a:off x="5588020" y="3760410"/>
            <a:ext cx="3454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 !</a:t>
            </a:r>
            <a:endParaRPr lang="en-US" sz="54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5462660-9853-5559-E2FF-F5A2E52B5F47}"/>
              </a:ext>
            </a:extLst>
          </p:cNvPr>
          <p:cNvSpPr/>
          <p:nvPr/>
        </p:nvSpPr>
        <p:spPr>
          <a:xfrm>
            <a:off x="6606140" y="4840635"/>
            <a:ext cx="1509159" cy="55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EF97DC-65E3-79F8-8655-AAC601DE6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924" y="7686674"/>
            <a:ext cx="18954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6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303</Words>
  <Application>Microsoft Office PowerPoint</Application>
  <PresentationFormat>Custom</PresentationFormat>
  <Paragraphs>83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Instrument Sans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Sirius M</cp:lastModifiedBy>
  <cp:revision>2</cp:revision>
  <dcterms:created xsi:type="dcterms:W3CDTF">2026-02-16T10:01:11Z</dcterms:created>
  <dcterms:modified xsi:type="dcterms:W3CDTF">2026-02-19T14:48:36Z</dcterms:modified>
</cp:coreProperties>
</file>